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6 — Attacker Isolation Layer (Kaushik). Framed as a mobile-server associated architecture. Problem: an attacker holding valid credentials or a session token is indistinguishable from a real user; hard-blocking just tells them to rotate and retry, and one token can move laterally into payment, device management and cloud sync. 6a: the mobile device is the sensor — it attaches device integrity/attestation, device fingerprint, and behavioural/velocity signals to every request. The server-side risk engine scores each session and transparently routes suspicious ones to a shadow environment with identical UX and APIs but zero real data, seeded with honeypot credentials, canary tokens and tarpit responses. The attacker wastes time and burns tooling while we harvest TTPs and IOCs. 6b: server-side microsegmentation separates auth from downstream services with per-segment scoped tokens; the device holds only short-lived narrowly-scoped tokens and sensitive actions require on-device re-auth (biometric/PIN) before the server grants segment access. Per Nikhil's note, 6b applicability is under evaluation — positioned as Phase 2. Close: device and server jointly decide trust — containment plus intelligence, not just blocking.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6949440" cy="475488"/>
          </a:xfrm>
          <a:prstGeom prst="rect">
            <a:avLst/>
          </a:prstGeom>
          <a:noFill/>
          <a:ln/>
        </p:spPr>
        <p:txBody>
          <a:bodyPr wrap="square" lIns="0" tIns="0" rIns="0" bIns="0" rtlCol="0" anchor="ctr"/>
          <a:lstStyle/>
          <a:p>
            <a:pPr indent="0" marL="0">
              <a:buNone/>
            </a:pPr>
            <a:r>
              <a:rPr lang="en-US" sz="2900" b="1" dirty="0">
                <a:solidFill>
                  <a:srgbClr val="1E293B"/>
                </a:solidFill>
                <a:latin typeface="Cambria" pitchFamily="34" charset="0"/>
                <a:ea typeface="Cambria" pitchFamily="34" charset="-122"/>
                <a:cs typeface="Cambria" pitchFamily="34" charset="-120"/>
              </a:rPr>
              <a:t>Attacker Isolation Layer</a:t>
            </a:r>
            <a:endParaRPr lang="en-US" sz="2900" dirty="0"/>
          </a:p>
        </p:txBody>
      </p:sp>
      <p:sp>
        <p:nvSpPr>
          <p:cNvPr id="3" name="Text 1"/>
          <p:cNvSpPr/>
          <p:nvPr/>
        </p:nvSpPr>
        <p:spPr>
          <a:xfrm>
            <a:off x="457200" y="713232"/>
            <a:ext cx="8229600" cy="25603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Mobile-assisted detection, server-side containment — contain and study attackers instead of just blocking them</a:t>
            </a:r>
            <a:endParaRPr lang="en-US" sz="1150" dirty="0"/>
          </a:p>
        </p:txBody>
      </p:sp>
      <p:sp>
        <p:nvSpPr>
          <p:cNvPr id="4" name="Shape 2"/>
          <p:cNvSpPr/>
          <p:nvPr/>
        </p:nvSpPr>
        <p:spPr>
          <a:xfrm>
            <a:off x="457200" y="1042416"/>
            <a:ext cx="8229600" cy="1042416"/>
          </a:xfrm>
          <a:prstGeom prst="roundRect">
            <a:avLst>
              <a:gd name="adj" fmla="val 5263"/>
            </a:avLst>
          </a:prstGeom>
          <a:solidFill>
            <a:srgbClr val="F4F5F7"/>
          </a:solidFill>
          <a:ln/>
          <a:effectLst>
            <a:outerShdw sx="100000" sy="100000" kx="0" ky="0" algn="bl" rotWithShape="0" blurRad="88900" dist="25400" dir="5400000">
              <a:srgbClr val="000000">
                <a:alpha val="14000"/>
              </a:srgbClr>
            </a:outerShdw>
          </a:effectLst>
        </p:spPr>
      </p:sp>
      <p:sp>
        <p:nvSpPr>
          <p:cNvPr id="5" name="Text 3"/>
          <p:cNvSpPr/>
          <p:nvPr/>
        </p:nvSpPr>
        <p:spPr>
          <a:xfrm>
            <a:off x="713232" y="1170432"/>
            <a:ext cx="2743200" cy="256032"/>
          </a:xfrm>
          <a:prstGeom prst="rect">
            <a:avLst/>
          </a:prstGeom>
          <a:noFill/>
          <a:ln/>
        </p:spPr>
        <p:txBody>
          <a:bodyPr wrap="square" lIns="0" tIns="0" rIns="0" bIns="0" rtlCol="0" anchor="ctr"/>
          <a:lstStyle/>
          <a:p>
            <a:pPr indent="0" marL="0">
              <a:buNone/>
            </a:pPr>
            <a:r>
              <a:rPr lang="en-US" sz="1300" b="1" spc="200" kern="0" dirty="0">
                <a:solidFill>
                  <a:srgbClr val="B42318"/>
                </a:solidFill>
                <a:latin typeface="Calibri" pitchFamily="34" charset="0"/>
                <a:ea typeface="Calibri" pitchFamily="34" charset="-122"/>
                <a:cs typeface="Calibri" pitchFamily="34" charset="-120"/>
              </a:rPr>
              <a:t>PROBLEM</a:t>
            </a:r>
            <a:endParaRPr lang="en-US" sz="1300" dirty="0"/>
          </a:p>
        </p:txBody>
      </p:sp>
      <p:sp>
        <p:nvSpPr>
          <p:cNvPr id="6" name="Text 4"/>
          <p:cNvSpPr/>
          <p:nvPr/>
        </p:nvSpPr>
        <p:spPr>
          <a:xfrm>
            <a:off x="713232" y="1426464"/>
            <a:ext cx="7772400" cy="603504"/>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An attacker with valid credentials or a session token is indistinguishable from a real user — detection alone isn't enough</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Hard-blocking tips off the attacker, who rotates IPs / credentials and retries; one compromised token can move laterally into payment, device management and cloud sync</a:t>
            </a:r>
            <a:endParaRPr lang="en-US" sz="1050" dirty="0"/>
          </a:p>
        </p:txBody>
      </p:sp>
      <p:sp>
        <p:nvSpPr>
          <p:cNvPr id="7" name="Shape 5"/>
          <p:cNvSpPr/>
          <p:nvPr/>
        </p:nvSpPr>
        <p:spPr>
          <a:xfrm>
            <a:off x="457200" y="2249424"/>
            <a:ext cx="3977640" cy="2304288"/>
          </a:xfrm>
          <a:prstGeom prst="roundRect">
            <a:avLst>
              <a:gd name="adj" fmla="val 2381"/>
            </a:avLst>
          </a:prstGeom>
          <a:solidFill>
            <a:srgbClr val="EDF6F8"/>
          </a:solidFill>
          <a:ln/>
          <a:effectLst>
            <a:outerShdw sx="100000" sy="100000" kx="0" ky="0" algn="bl" rotWithShape="0" blurRad="88900" dist="25400" dir="5400000">
              <a:srgbClr val="000000">
                <a:alpha val="14000"/>
              </a:srgbClr>
            </a:outerShdw>
          </a:effectLst>
        </p:spPr>
      </p:sp>
      <p:sp>
        <p:nvSpPr>
          <p:cNvPr id="8" name="Text 6"/>
          <p:cNvSpPr/>
          <p:nvPr/>
        </p:nvSpPr>
        <p:spPr>
          <a:xfrm>
            <a:off x="713232" y="2414016"/>
            <a:ext cx="3465576" cy="292608"/>
          </a:xfrm>
          <a:prstGeom prst="rect">
            <a:avLst/>
          </a:prstGeom>
          <a:noFill/>
          <a:ln/>
        </p:spPr>
        <p:txBody>
          <a:bodyPr wrap="square" lIns="0" tIns="0" rIns="0" bIns="0" rtlCol="0" anchor="t"/>
          <a:lstStyle/>
          <a:p>
            <a:pPr indent="0" marL="0">
              <a:buNone/>
            </a:pPr>
            <a:r>
              <a:rPr lang="en-US" sz="1350" b="1" dirty="0">
                <a:solidFill>
                  <a:srgbClr val="0E7490"/>
                </a:solidFill>
                <a:latin typeface="Calibri" pitchFamily="34" charset="0"/>
                <a:ea typeface="Calibri" pitchFamily="34" charset="-122"/>
                <a:cs typeface="Calibri" pitchFamily="34" charset="-120"/>
              </a:rPr>
              <a:t>6a  Segmented Risk Tiers → Shadow Environment</a:t>
            </a:r>
            <a:endParaRPr lang="en-US" sz="1350" dirty="0"/>
          </a:p>
        </p:txBody>
      </p:sp>
      <p:sp>
        <p:nvSpPr>
          <p:cNvPr id="9" name="Text 7"/>
          <p:cNvSpPr/>
          <p:nvPr/>
        </p:nvSpPr>
        <p:spPr>
          <a:xfrm>
            <a:off x="713232" y="2779776"/>
            <a:ext cx="3465576" cy="1609344"/>
          </a:xfrm>
          <a:prstGeom prst="rect">
            <a:avLst/>
          </a:prstGeom>
          <a:noFill/>
          <a:ln/>
        </p:spPr>
        <p:txBody>
          <a:bodyPr wrap="square" lIns="0" tIns="0" rIns="0" bIns="0" rtlCol="0" anchor="t"/>
          <a:lstStyle/>
          <a:p>
            <a:pPr indent="0" marL="0">
              <a:spcAft>
                <a:spcPts val="500"/>
              </a:spcAft>
              <a:buNone/>
            </a:pPr>
            <a:r>
              <a:rPr lang="en-US" sz="1000" b="1" dirty="0">
                <a:solidFill>
                  <a:srgbClr val="0E7490"/>
                </a:solidFill>
                <a:latin typeface="Calibri" pitchFamily="34" charset="0"/>
                <a:ea typeface="Calibri" pitchFamily="34" charset="-122"/>
                <a:cs typeface="Calibri" pitchFamily="34" charset="-120"/>
              </a:rPr>
              <a:t>MOBILE (on-device):  </a:t>
            </a:r>
            <a:pPr indent="0" marL="0">
              <a:spcAft>
                <a:spcPts val="500"/>
              </a:spcAft>
              <a:buNone/>
            </a:pPr>
            <a:r>
              <a:rPr lang="en-US" sz="1000" dirty="0">
                <a:solidFill>
                  <a:srgbClr val="1E293B"/>
                </a:solidFill>
                <a:latin typeface="Calibri" pitchFamily="34" charset="0"/>
                <a:ea typeface="Calibri" pitchFamily="34" charset="-122"/>
                <a:cs typeface="Calibri" pitchFamily="34" charset="-120"/>
              </a:rPr>
              <a:t>collects risk signals — device integrity / attestation, device fingerprint, behavioural &amp; velocity anomalies — attached to every request</a:t>
            </a:r>
            <a:endParaRPr lang="en-US" sz="1000" dirty="0"/>
          </a:p>
          <a:p>
            <a:pPr indent="0" marL="0">
              <a:spcAft>
                <a:spcPts val="500"/>
              </a:spcAft>
              <a:buNone/>
            </a:pPr>
            <a:r>
              <a:rPr lang="en-US" sz="1000" b="1" dirty="0">
                <a:solidFill>
                  <a:srgbClr val="0E7490"/>
                </a:solidFill>
                <a:latin typeface="Calibri" pitchFamily="34" charset="0"/>
                <a:ea typeface="Calibri" pitchFamily="34" charset="-122"/>
                <a:cs typeface="Calibri" pitchFamily="34" charset="-120"/>
              </a:rPr>
              <a:t>SERVER:  </a:t>
            </a:r>
            <a:pPr indent="0" marL="0">
              <a:spcAft>
                <a:spcPts val="500"/>
              </a:spcAft>
              <a:buNone/>
            </a:pPr>
            <a:r>
              <a:rPr lang="en-US" sz="1000" dirty="0">
                <a:solidFill>
                  <a:srgbClr val="1E293B"/>
                </a:solidFill>
                <a:latin typeface="Calibri" pitchFamily="34" charset="0"/>
                <a:ea typeface="Calibri" pitchFamily="34" charset="-122"/>
                <a:cs typeface="Calibri" pitchFamily="34" charset="-120"/>
              </a:rPr>
              <a:t>risk engine scores each session; suspicious sessions transparently routed to a shadow environment — identical UX &amp; APIs, zero real data</a:t>
            </a:r>
            <a:endParaRPr lang="en-US" sz="1000" dirty="0"/>
          </a:p>
          <a:p>
            <a:pPr indent="0" marL="0">
              <a:spcAft>
                <a:spcPts val="500"/>
              </a:spcAft>
              <a:buNone/>
            </a:pPr>
            <a:r>
              <a:rPr lang="en-US" sz="1000" b="1" dirty="0">
                <a:solidFill>
                  <a:srgbClr val="0E7490"/>
                </a:solidFill>
                <a:latin typeface="Calibri" pitchFamily="34" charset="0"/>
                <a:ea typeface="Calibri" pitchFamily="34" charset="-122"/>
                <a:cs typeface="Calibri" pitchFamily="34" charset="-120"/>
              </a:rPr>
              <a:t>SERVER (deception):  </a:t>
            </a:r>
            <a:pPr indent="0" marL="0">
              <a:spcAft>
                <a:spcPts val="500"/>
              </a:spcAft>
              <a:buNone/>
            </a:pPr>
            <a:r>
              <a:rPr lang="en-US" sz="1000" dirty="0">
                <a:solidFill>
                  <a:srgbClr val="1E293B"/>
                </a:solidFill>
                <a:latin typeface="Calibri" pitchFamily="34" charset="0"/>
                <a:ea typeface="Calibri" pitchFamily="34" charset="-122"/>
                <a:cs typeface="Calibri" pitchFamily="34" charset="-120"/>
              </a:rPr>
              <a:t>honeypot credentials, canary tokens, tarpit responses — attacker burns time while we harvest TTPs / IOCs</a:t>
            </a:r>
            <a:endParaRPr lang="en-US" sz="1000" dirty="0"/>
          </a:p>
        </p:txBody>
      </p:sp>
      <p:sp>
        <p:nvSpPr>
          <p:cNvPr id="10" name="Shape 8"/>
          <p:cNvSpPr/>
          <p:nvPr/>
        </p:nvSpPr>
        <p:spPr>
          <a:xfrm>
            <a:off x="4709160" y="2249424"/>
            <a:ext cx="3977640" cy="2304288"/>
          </a:xfrm>
          <a:prstGeom prst="roundRect">
            <a:avLst>
              <a:gd name="adj" fmla="val 2381"/>
            </a:avLst>
          </a:prstGeom>
          <a:solidFill>
            <a:srgbClr val="EDF6F8"/>
          </a:solidFill>
          <a:ln/>
          <a:effectLst>
            <a:outerShdw sx="100000" sy="100000" kx="0" ky="0" algn="bl" rotWithShape="0" blurRad="88900" dist="25400" dir="5400000">
              <a:srgbClr val="000000">
                <a:alpha val="14000"/>
              </a:srgbClr>
            </a:outerShdw>
          </a:effectLst>
        </p:spPr>
      </p:sp>
      <p:sp>
        <p:nvSpPr>
          <p:cNvPr id="11" name="Text 9"/>
          <p:cNvSpPr/>
          <p:nvPr/>
        </p:nvSpPr>
        <p:spPr>
          <a:xfrm>
            <a:off x="4965192" y="2414016"/>
            <a:ext cx="3465576" cy="292608"/>
          </a:xfrm>
          <a:prstGeom prst="rect">
            <a:avLst/>
          </a:prstGeom>
          <a:noFill/>
          <a:ln/>
        </p:spPr>
        <p:txBody>
          <a:bodyPr wrap="square" lIns="0" tIns="0" rIns="0" bIns="0" rtlCol="0" anchor="t"/>
          <a:lstStyle/>
          <a:p>
            <a:pPr indent="0" marL="0">
              <a:buNone/>
            </a:pPr>
            <a:r>
              <a:rPr lang="en-US" sz="1350" b="1" dirty="0">
                <a:solidFill>
                  <a:srgbClr val="0E7490"/>
                </a:solidFill>
                <a:latin typeface="Calibri" pitchFamily="34" charset="0"/>
                <a:ea typeface="Calibri" pitchFamily="34" charset="-122"/>
                <a:cs typeface="Calibri" pitchFamily="34" charset="-120"/>
              </a:rPr>
              <a:t>6b  Blast Radius Containment</a:t>
            </a:r>
            <a:endParaRPr lang="en-US" sz="1350" dirty="0"/>
          </a:p>
        </p:txBody>
      </p:sp>
      <p:sp>
        <p:nvSpPr>
          <p:cNvPr id="12" name="Text 10"/>
          <p:cNvSpPr/>
          <p:nvPr/>
        </p:nvSpPr>
        <p:spPr>
          <a:xfrm>
            <a:off x="4965192" y="2779776"/>
            <a:ext cx="3465576" cy="1609344"/>
          </a:xfrm>
          <a:prstGeom prst="rect">
            <a:avLst/>
          </a:prstGeom>
          <a:noFill/>
          <a:ln/>
        </p:spPr>
        <p:txBody>
          <a:bodyPr wrap="square" lIns="0" tIns="0" rIns="0" bIns="0" rtlCol="0" anchor="t"/>
          <a:lstStyle/>
          <a:p>
            <a:pPr indent="0" marL="0">
              <a:spcAft>
                <a:spcPts val="500"/>
              </a:spcAft>
              <a:buNone/>
            </a:pPr>
            <a:r>
              <a:rPr lang="en-US" sz="1000" b="1" dirty="0">
                <a:solidFill>
                  <a:srgbClr val="0E7490"/>
                </a:solidFill>
                <a:latin typeface="Calibri" pitchFamily="34" charset="0"/>
                <a:ea typeface="Calibri" pitchFamily="34" charset="-122"/>
                <a:cs typeface="Calibri" pitchFamily="34" charset="-120"/>
              </a:rPr>
              <a:t>SERVER:  </a:t>
            </a:r>
            <a:pPr indent="0" marL="0">
              <a:spcAft>
                <a:spcPts val="500"/>
              </a:spcAft>
              <a:buNone/>
            </a:pPr>
            <a:r>
              <a:rPr lang="en-US" sz="1000" dirty="0">
                <a:solidFill>
                  <a:srgbClr val="1E293B"/>
                </a:solidFill>
                <a:latin typeface="Calibri" pitchFamily="34" charset="0"/>
                <a:ea typeface="Calibri" pitchFamily="34" charset="-122"/>
                <a:cs typeface="Calibri" pitchFamily="34" charset="-120"/>
              </a:rPr>
              <a:t>auth microsegmented from downstream services (payment, device mgmt, cloud sync); tokens scoped per segment — no lateral cascade</a:t>
            </a:r>
            <a:endParaRPr lang="en-US" sz="1000" dirty="0"/>
          </a:p>
          <a:p>
            <a:pPr indent="0" marL="0">
              <a:spcAft>
                <a:spcPts val="500"/>
              </a:spcAft>
              <a:buNone/>
            </a:pPr>
            <a:r>
              <a:rPr lang="en-US" sz="1000" b="1" dirty="0">
                <a:solidFill>
                  <a:srgbClr val="0E7490"/>
                </a:solidFill>
                <a:latin typeface="Calibri" pitchFamily="34" charset="0"/>
                <a:ea typeface="Calibri" pitchFamily="34" charset="-122"/>
                <a:cs typeface="Calibri" pitchFamily="34" charset="-120"/>
              </a:rPr>
              <a:t>MOBILE (on-device):  </a:t>
            </a:r>
            <a:pPr indent="0" marL="0">
              <a:spcAft>
                <a:spcPts val="500"/>
              </a:spcAft>
              <a:buNone/>
            </a:pPr>
            <a:r>
              <a:rPr lang="en-US" sz="1000" dirty="0">
                <a:solidFill>
                  <a:srgbClr val="1E293B"/>
                </a:solidFill>
                <a:latin typeface="Calibri" pitchFamily="34" charset="0"/>
                <a:ea typeface="Calibri" pitchFamily="34" charset="-122"/>
                <a:cs typeface="Calibri" pitchFamily="34" charset="-120"/>
              </a:rPr>
              <a:t>holds only short-lived, narrowly-scoped tokens; sensitive actions trigger on-device re-auth (biometric / PIN) before the server grants segment access</a:t>
            </a:r>
            <a:endParaRPr lang="en-US" sz="1000" dirty="0"/>
          </a:p>
          <a:p>
            <a:pPr indent="0" marL="0">
              <a:spcAft>
                <a:spcPts val="500"/>
              </a:spcAft>
              <a:buNone/>
            </a:pPr>
            <a:r>
              <a:rPr lang="en-US" sz="1000" i="1" dirty="0">
                <a:solidFill>
                  <a:srgbClr val="64748B"/>
                </a:solidFill>
                <a:latin typeface="Calibri" pitchFamily="34" charset="0"/>
                <a:ea typeface="Calibri" pitchFamily="34" charset="-122"/>
                <a:cs typeface="Calibri" pitchFamily="34" charset="-120"/>
              </a:rPr>
              <a:t>Applicability to our stack under evaluation — proposed as Phase 2</a:t>
            </a:r>
            <a:endParaRPr lang="en-US" sz="1000" dirty="0"/>
          </a:p>
        </p:txBody>
      </p:sp>
      <p:sp>
        <p:nvSpPr>
          <p:cNvPr id="13" name="Text 11"/>
          <p:cNvSpPr/>
          <p:nvPr/>
        </p:nvSpPr>
        <p:spPr>
          <a:xfrm>
            <a:off x="457200" y="4645152"/>
            <a:ext cx="8229600" cy="347472"/>
          </a:xfrm>
          <a:prstGeom prst="rect">
            <a:avLst/>
          </a:prstGeom>
          <a:noFill/>
          <a:ln/>
        </p:spPr>
        <p:txBody>
          <a:bodyPr wrap="square" lIns="0" tIns="0" rIns="0" bIns="0" rtlCol="0" anchor="ctr"/>
          <a:lstStyle/>
          <a:p>
            <a:pPr indent="0" marL="0">
              <a:buNone/>
            </a:pPr>
            <a:r>
              <a:rPr lang="en-US" sz="1150" b="1" dirty="0">
                <a:solidFill>
                  <a:srgbClr val="0E7490"/>
                </a:solidFill>
                <a:latin typeface="Calibri" pitchFamily="34" charset="0"/>
                <a:ea typeface="Calibri" pitchFamily="34" charset="-122"/>
                <a:cs typeface="Calibri" pitchFamily="34" charset="-120"/>
              </a:rPr>
              <a:t>Outcome:  </a:t>
            </a:r>
            <a:pPr indent="0" marL="0">
              <a:buNone/>
            </a:pPr>
            <a:r>
              <a:rPr lang="en-US" sz="1150" dirty="0">
                <a:solidFill>
                  <a:srgbClr val="1E293B"/>
                </a:solidFill>
                <a:latin typeface="Calibri" pitchFamily="34" charset="0"/>
                <a:ea typeface="Calibri" pitchFamily="34" charset="-122"/>
                <a:cs typeface="Calibri" pitchFamily="34" charset="-120"/>
              </a:rPr>
              <a:t>device and server jointly decide trust — attackers are contained and studied, and a compromised token never becomes a cross-service breach.</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Attacker Isolation Layer</dc:title>
  <dc:subject>PptxGenJS Presentation</dc:subject>
  <dc:creator>Kaushik Kamal Kalita</dc:creator>
  <cp:lastModifiedBy>Kaushik Kamal Kalita</cp:lastModifiedBy>
  <cp:revision>1</cp:revision>
  <dcterms:created xsi:type="dcterms:W3CDTF">2026-07-09T11:22:50Z</dcterms:created>
  <dcterms:modified xsi:type="dcterms:W3CDTF">2026-07-09T11:22:50Z</dcterms:modified>
</cp:coreProperties>
</file>